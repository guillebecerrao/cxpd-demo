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5" r:id="rId6"/>
    <p:sldId id="264" r:id="rId7"/>
    <p:sldId id="260" r:id="rId8"/>
    <p:sldId id="261" r:id="rId9"/>
    <p:sldId id="262" r:id="rId10"/>
    <p:sldId id="263" r:id="rId11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58"/>
  </p:normalViewPr>
  <p:slideViewPr>
    <p:cSldViewPr snapToGrid="0" snapToObjects="1">
      <p:cViewPr varScale="1">
        <p:scale>
          <a:sx n="95" d="100"/>
          <a:sy n="95" d="100"/>
        </p:scale>
        <p:origin x="200" y="7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108000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684000"/>
            <a:ext cx="90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88E5"/>
                </a:solidFill>
                <a:latin typeface="Calibri"/>
              </a:rPr>
              <a:t>NexHealth  x  Coverwise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116000"/>
            <a:ext cx="10080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 dirty="0">
                <a:solidFill>
                  <a:srgbClr val="FFFFFF"/>
                </a:solidFill>
                <a:latin typeface="Calibri"/>
              </a:rPr>
              <a:t>E2E-SDPB in Action</a:t>
            </a:r>
            <a:r>
              <a:rPr lang="es-419" sz="5000" b="1" i="0" dirty="0">
                <a:solidFill>
                  <a:srgbClr val="FFFFFF"/>
                </a:solidFill>
                <a:latin typeface="Calibri"/>
              </a:rPr>
              <a:t>: Demo</a:t>
            </a:r>
            <a:endParaRPr sz="5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0000" y="2520000"/>
            <a:ext cx="93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90CAF9"/>
                </a:solidFill>
                <a:latin typeface="Calibri"/>
              </a:rPr>
              <a:t>From brief to live product in 5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3276000"/>
            <a:ext cx="2880000" cy="28800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0000" y="3420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57575"/>
                </a:solidFill>
                <a:latin typeface="Calibri"/>
              </a:rPr>
              <a:t>Spec-Driven Product Building  |  End-to-End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3780000"/>
            <a:ext cx="792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419" sz="1100" b="0" i="0" dirty="0">
                <a:solidFill>
                  <a:srgbClr val="00838E"/>
                </a:solidFill>
                <a:latin typeface="Courier New"/>
              </a:rPr>
              <a:t>TO BE: </a:t>
            </a:r>
            <a:r>
              <a:rPr sz="1100" b="0" i="0" dirty="0" err="1">
                <a:solidFill>
                  <a:srgbClr val="00838E"/>
                </a:solidFill>
                <a:latin typeface="Courier New"/>
              </a:rPr>
              <a:t>coverwise.becerra-ojeda.cl</a:t>
            </a:r>
            <a:endParaRPr sz="1100" b="0" i="0" dirty="0">
              <a:solidFill>
                <a:srgbClr val="00838E"/>
              </a:solidFill>
              <a:latin typeface="Courier New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20000" y="6408000"/>
            <a:ext cx="14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57575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57600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80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Brief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3420000" cy="2520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0000" y="792000"/>
            <a:ext cx="3420000" cy="251999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6000" y="827999"/>
            <a:ext cx="32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E0E0"/>
                </a:solidFill>
                <a:latin typeface="Calibri"/>
              </a:rPr>
              <a:t>THE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000" y="1134000"/>
            <a:ext cx="3240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50" b="0">
                <a:solidFill>
                  <a:srgbClr val="212121"/>
                </a:solidFill>
                <a:latin typeface="Calibri"/>
              </a:rPr>
              <a:t>NexHealth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12121"/>
                </a:solidFill>
                <a:latin typeface="Calibri"/>
              </a:rPr>
              <a:t>Digital health insurer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12121"/>
                </a:solidFill>
                <a:latin typeface="Calibri"/>
              </a:rPr>
              <a:t>LATAM operations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12121"/>
                </a:solidFill>
                <a:latin typeface="Calibri"/>
              </a:rPr>
              <a:t>500K active members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12121"/>
                </a:solidFill>
                <a:latin typeface="Calibri"/>
              </a:rPr>
              <a:t>Fast-growing young adult segment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2000" y="792000"/>
            <a:ext cx="4320000" cy="2520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92000" y="792000"/>
            <a:ext cx="4320000" cy="251999"/>
          </a:xfrm>
          <a:prstGeom prst="rect">
            <a:avLst/>
          </a:prstGeom>
          <a:solidFill>
            <a:srgbClr val="B71C1C"/>
          </a:solidFill>
          <a:ln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18000" y="827999"/>
            <a:ext cx="41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E0E0"/>
                </a:solidFill>
                <a:latin typeface="Calibr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000" y="1134000"/>
            <a:ext cx="4140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50" b="0">
                <a:solidFill>
                  <a:srgbClr val="212121"/>
                </a:solidFill>
                <a:latin typeface="Calibri"/>
              </a:rPr>
              <a:t>Members can't tell if their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12121"/>
                </a:solidFill>
                <a:latin typeface="Calibri"/>
              </a:rPr>
              <a:t>procedure is covered when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12121"/>
                </a:solidFill>
                <a:latin typeface="Calibri"/>
              </a:rPr>
              <a:t>they need it.</a:t>
            </a:r>
          </a:p>
          <a:p>
            <a:pPr algn="l">
              <a:spcBef>
                <a:spcPts val="300"/>
              </a:spcBef>
            </a:pPr>
            <a:endParaRPr sz="1250" b="0">
              <a:solidFill>
                <a:srgbClr val="212121"/>
              </a:solidFill>
              <a:latin typeface="Calibri"/>
            </a:endParaRP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12121"/>
                </a:solidFill>
                <a:latin typeface="Calibri"/>
              </a:rPr>
              <a:t>-&gt;  Call center overloaded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12121"/>
                </a:solidFill>
                <a:latin typeface="Calibri"/>
              </a:rPr>
              <a:t>-&gt;  NPS is low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12121"/>
                </a:solidFill>
                <a:latin typeface="Calibri"/>
              </a:rPr>
              <a:t>-&gt;  Members skip care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792000"/>
            <a:ext cx="2520000" cy="2520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144000" y="792000"/>
            <a:ext cx="2520000" cy="251999"/>
          </a:xfrm>
          <a:prstGeom prst="rect">
            <a:avLst/>
          </a:prstGeom>
          <a:solidFill>
            <a:srgbClr val="00838E"/>
          </a:solidFill>
          <a:ln>
            <a:solidFill>
              <a:srgbClr val="0083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70000" y="827999"/>
            <a:ext cx="23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E0E0"/>
                </a:solidFill>
                <a:latin typeface="Calibri"/>
              </a:rPr>
              <a:t>THE 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0000" y="1134000"/>
            <a:ext cx="2340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50" b="0">
                <a:solidFill>
                  <a:srgbClr val="212121"/>
                </a:solidFill>
                <a:latin typeface="Calibri"/>
              </a:rPr>
              <a:t>25-40 years old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12121"/>
                </a:solidFill>
                <a:latin typeface="Calibri"/>
              </a:rPr>
              <a:t>Digital plan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12121"/>
                </a:solidFill>
                <a:latin typeface="Calibri"/>
              </a:rPr>
              <a:t>Mobile-first</a:t>
            </a:r>
          </a:p>
          <a:p>
            <a:pPr algn="l">
              <a:spcBef>
                <a:spcPts val="300"/>
              </a:spcBef>
            </a:pPr>
            <a:endParaRPr sz="1250" b="0">
              <a:solidFill>
                <a:srgbClr val="212121"/>
              </a:solidFill>
              <a:latin typeface="Calibri"/>
            </a:endParaRP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12121"/>
                </a:solidFill>
                <a:latin typeface="Calibri"/>
              </a:rPr>
              <a:t>"Is this covered?"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12121"/>
                </a:solidFill>
                <a:latin typeface="Calibri"/>
              </a:rPr>
              <a:t>before going to the clinic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3564000"/>
            <a:ext cx="12193200" cy="90000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8000" y="36360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88E5"/>
                </a:solidFill>
                <a:latin typeface="Calibri"/>
              </a:rPr>
              <a:t>THE PRODUCT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000" y="3870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Coverwise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0000" y="3780000"/>
            <a:ext cx="702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0BEC5"/>
                </a:solidFill>
                <a:latin typeface="Calibri"/>
              </a:rPr>
              <a:t>Conversational AI that answers coverage questions in natural language, in real time, from mobile.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57600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80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Proposal: 5 Days, One Live Product</a:t>
            </a:r>
          </a:p>
        </p:txBody>
      </p:sp>
      <p:sp>
        <p:nvSpPr>
          <p:cNvPr id="4" name="Rectangle 3"/>
          <p:cNvSpPr/>
          <p:nvPr/>
        </p:nvSpPr>
        <p:spPr>
          <a:xfrm>
            <a:off x="468000" y="720000"/>
            <a:ext cx="2015999" cy="3780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68000" y="720000"/>
            <a:ext cx="2015999" cy="503999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8000" y="756000"/>
            <a:ext cx="183599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8000" y="1368000"/>
            <a:ext cx="1835999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1B2A"/>
                </a:solidFill>
                <a:latin typeface="Calibri"/>
              </a:rPr>
              <a:t>Shape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000" y="2268000"/>
            <a:ext cx="1835999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57575"/>
                </a:solidFill>
                <a:latin typeface="Calibri"/>
              </a:rPr>
              <a:t>OST with
prioritized
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2800" y="1980000"/>
            <a:ext cx="16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E0E0E0"/>
                </a:solidFill>
                <a:latin typeface="Calibri"/>
              </a:rPr>
              <a:t>-&gt;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64000" y="720000"/>
            <a:ext cx="2015999" cy="3780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664000" y="720000"/>
            <a:ext cx="2015999" cy="503999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54000" y="756000"/>
            <a:ext cx="183599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DAY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4000" y="1368000"/>
            <a:ext cx="1835999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E88E5"/>
                </a:solidFill>
                <a:latin typeface="Calibri"/>
              </a:rPr>
              <a:t>Ideate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4000" y="2268000"/>
            <a:ext cx="1835999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57575"/>
                </a:solidFill>
                <a:latin typeface="Calibri"/>
              </a:rPr>
              <a:t>Ideas +
Assumption
Test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8800" y="1980000"/>
            <a:ext cx="16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E0E0E0"/>
                </a:solidFill>
                <a:latin typeface="Calibri"/>
              </a:rPr>
              <a:t>-&gt;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60000" y="720000"/>
            <a:ext cx="2015999" cy="3780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860000" y="720000"/>
            <a:ext cx="2015999" cy="503999"/>
          </a:xfrm>
          <a:prstGeom prst="rect">
            <a:avLst/>
          </a:prstGeom>
          <a:solidFill>
            <a:srgbClr val="00838E"/>
          </a:solidFill>
          <a:ln>
            <a:solidFill>
              <a:srgbClr val="0083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50000" y="756000"/>
            <a:ext cx="183599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DAY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0000" y="1368000"/>
            <a:ext cx="1835999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838E"/>
                </a:solidFill>
                <a:latin typeface="Calibri"/>
              </a:rPr>
              <a:t>Validate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0000" y="2268000"/>
            <a:ext cx="1835999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57575"/>
                </a:solidFill>
                <a:latin typeface="Calibri"/>
              </a:rPr>
              <a:t>Evidence +
Chosen
Solution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4800" y="1980000"/>
            <a:ext cx="16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E0E0E0"/>
                </a:solidFill>
                <a:latin typeface="Calibri"/>
              </a:rPr>
              <a:t>-&gt;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55999" y="720000"/>
            <a:ext cx="2015999" cy="3780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055999" y="720000"/>
            <a:ext cx="2015999" cy="503999"/>
          </a:xfrm>
          <a:prstGeom prst="rect">
            <a:avLst/>
          </a:prstGeom>
          <a:solidFill>
            <a:srgbClr val="4A148C"/>
          </a:solidFill>
          <a:ln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45999" y="756000"/>
            <a:ext cx="183599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DAY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5999" y="1368000"/>
            <a:ext cx="1835999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4A148C"/>
                </a:solidFill>
                <a:latin typeface="Calibri"/>
              </a:rPr>
              <a:t>Handoff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5999" y="2268000"/>
            <a:ext cx="1835999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57575"/>
                </a:solidFill>
                <a:latin typeface="Calibri"/>
              </a:rPr>
              <a:t>Specs +
Release
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0799" y="1980000"/>
            <a:ext cx="16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E0E0E0"/>
                </a:solidFill>
                <a:latin typeface="Calibri"/>
              </a:rPr>
              <a:t>-&gt;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52000" y="720000"/>
            <a:ext cx="2015999" cy="3780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252000" y="720000"/>
            <a:ext cx="2015999" cy="503999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42000" y="756000"/>
            <a:ext cx="183599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DAY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2000" y="1368000"/>
            <a:ext cx="1835999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E7D32"/>
                </a:solidFill>
                <a:latin typeface="Calibri"/>
              </a:rPr>
              <a:t>Build
&amp; Deploy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2000" y="2268000"/>
            <a:ext cx="1835999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57575"/>
                </a:solidFill>
                <a:latin typeface="Calibri"/>
              </a:rPr>
              <a:t>Coverwise
live in
production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4968000"/>
            <a:ext cx="12193200" cy="72000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8000" y="5112000"/>
            <a:ext cx="1080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coverwise.becerra-ojeda.cl  goes live on Day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180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HOW E2E-SDPB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432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The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00" y="1440000"/>
            <a:ext cx="2664000" cy="251999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0000" y="1475999"/>
            <a:ext cx="252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Shape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00" y="1692000"/>
            <a:ext cx="2664000" cy="1800000"/>
          </a:xfrm>
          <a:prstGeom prst="rect">
            <a:avLst/>
          </a:prstGeom>
          <a:solidFill>
            <a:srgbClr val="1A273A"/>
          </a:solidFill>
          <a:ln>
            <a:solidFill>
              <a:srgbClr val="1A27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6000" y="1782000"/>
            <a:ext cx="2448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  <a:latin typeface="Calibri"/>
              </a:rPr>
              <a:t>Discover &amp; prioritize
opportunities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000" y="2565000"/>
            <a:ext cx="244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dirty="0">
                <a:solidFill>
                  <a:srgbClr val="1E88E5"/>
                </a:solidFill>
                <a:latin typeface="Calibri"/>
              </a:rPr>
              <a:t>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2799000"/>
            <a:ext cx="244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  <a:latin typeface="Calibri"/>
              </a:rPr>
              <a:t>OST with
prioritized leaf 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2800" y="2340000"/>
            <a:ext cx="1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B0BEC5"/>
                </a:solidFill>
                <a:latin typeface="Calibri"/>
              </a:rPr>
              <a:t>-&gt;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42000" y="1440000"/>
            <a:ext cx="2664000" cy="251999"/>
          </a:xfrm>
          <a:prstGeom prst="rect">
            <a:avLst/>
          </a:prstGeom>
          <a:solidFill>
            <a:srgbClr val="00838E"/>
          </a:solidFill>
          <a:ln>
            <a:solidFill>
              <a:srgbClr val="0083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4000" y="1475999"/>
            <a:ext cx="252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Ideate &amp;</a:t>
            </a:r>
            <a:r>
              <a:rPr lang="es-419" sz="1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1" i="0" dirty="0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42000" y="1692000"/>
            <a:ext cx="2664000" cy="1800000"/>
          </a:xfrm>
          <a:prstGeom prst="rect">
            <a:avLst/>
          </a:prstGeom>
          <a:solidFill>
            <a:srgbClr val="1A273A"/>
          </a:solidFill>
          <a:ln>
            <a:solidFill>
              <a:srgbClr val="1A27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50000" y="1782000"/>
            <a:ext cx="2448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  <a:latin typeface="Calibri"/>
              </a:rPr>
              <a:t>Generate ideas,
test critical assumptions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0000" y="2565000"/>
            <a:ext cx="244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838E"/>
                </a:solidFill>
                <a:latin typeface="Calibri"/>
              </a:rPr>
              <a:t>OUTPUT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0000" y="2799000"/>
            <a:ext cx="244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  <a:latin typeface="Calibri"/>
              </a:rPr>
              <a:t>Solution chosen
with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6800" y="2340000"/>
            <a:ext cx="1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B0BEC5"/>
                </a:solidFill>
                <a:latin typeface="Calibri"/>
              </a:rPr>
              <a:t>-&gt;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96000" y="1440000"/>
            <a:ext cx="2664000" cy="251999"/>
          </a:xfrm>
          <a:prstGeom prst="rect">
            <a:avLst/>
          </a:prstGeom>
          <a:solidFill>
            <a:srgbClr val="4A148C"/>
          </a:solidFill>
          <a:ln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68000" y="1475999"/>
            <a:ext cx="252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Handoff to</a:t>
            </a:r>
            <a:r>
              <a:rPr lang="es-419" sz="1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1" i="0" dirty="0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6000" y="1692000"/>
            <a:ext cx="2664000" cy="1800000"/>
          </a:xfrm>
          <a:prstGeom prst="rect">
            <a:avLst/>
          </a:prstGeom>
          <a:solidFill>
            <a:srgbClr val="1A273A"/>
          </a:solidFill>
          <a:ln>
            <a:solidFill>
              <a:srgbClr val="1A27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04000" y="1782000"/>
            <a:ext cx="2448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  <a:latin typeface="Calibri"/>
              </a:rPr>
              <a:t>Produce specs
traceable to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4000" y="2565000"/>
            <a:ext cx="244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A148C"/>
                </a:solidFill>
                <a:latin typeface="Calibri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4000" y="2799000"/>
            <a:ext cx="244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  <a:latin typeface="Calibri"/>
              </a:rPr>
              <a:t>Approved specs
+ release plan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0800" y="2340000"/>
            <a:ext cx="1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B0BEC5"/>
                </a:solidFill>
                <a:latin typeface="Calibri"/>
              </a:rPr>
              <a:t>-&gt;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50000" y="1440000"/>
            <a:ext cx="2664000" cy="251999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22000" y="1475999"/>
            <a:ext cx="252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50000" y="1692000"/>
            <a:ext cx="2664000" cy="1800000"/>
          </a:xfrm>
          <a:prstGeom prst="rect">
            <a:avLst/>
          </a:prstGeom>
          <a:solidFill>
            <a:srgbClr val="1A273A"/>
          </a:solidFill>
          <a:ln>
            <a:solidFill>
              <a:srgbClr val="1A27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58000" y="1782000"/>
            <a:ext cx="2448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  <a:latin typeface="Calibri"/>
              </a:rPr>
              <a:t>Claude Code builds
from specs.
Engineer reviews.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58000" y="2565000"/>
            <a:ext cx="244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E7D32"/>
                </a:solidFill>
                <a:latin typeface="Calibri"/>
              </a:rPr>
              <a:t>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58000" y="2799000"/>
            <a:ext cx="244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FFFFFF"/>
                </a:solidFill>
                <a:latin typeface="Calibri"/>
              </a:rPr>
              <a:t>Live product
in production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4500000"/>
            <a:ext cx="12193200" cy="720000"/>
          </a:xfrm>
          <a:prstGeom prst="rect">
            <a:avLst/>
          </a:prstGeom>
          <a:solidFill>
            <a:srgbClr val="0A141F"/>
          </a:solidFill>
          <a:ln>
            <a:solidFill>
              <a:srgbClr val="0A14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20000" y="4626000"/>
            <a:ext cx="107532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80CBC4"/>
                </a:solidFill>
                <a:latin typeface="Calibri"/>
              </a:rPr>
              <a:t>"Nothing gets built without a spec.  No spec without evidence.  Everything validated."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180000"/>
            <a:ext cx="540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THE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432000"/>
            <a:ext cx="10080000" cy="5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1520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88E5"/>
                </a:solidFill>
                <a:latin typeface="Calibri"/>
              </a:rPr>
              <a:t>THE TRIAD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422000"/>
            <a:ext cx="136800" cy="756000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458000"/>
            <a:ext cx="50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Product Manager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764000"/>
            <a:ext cx="50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  <a:latin typeface="Calibri"/>
              </a:rPr>
              <a:t>Facilitates discovery. Owns the OST and product brief.
Coordinates with client stakeholders.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2358000"/>
            <a:ext cx="136800" cy="756000"/>
          </a:xfrm>
          <a:prstGeom prst="rect">
            <a:avLst/>
          </a:prstGeom>
          <a:solidFill>
            <a:srgbClr val="00838E"/>
          </a:solidFill>
          <a:ln>
            <a:solidFill>
              <a:srgbClr val="0083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2000" y="2394000"/>
            <a:ext cx="50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38E"/>
                </a:solidFill>
                <a:latin typeface="Calibri"/>
              </a:rPr>
              <a:t>Product Designer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2700000"/>
            <a:ext cx="50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  <a:latin typeface="Calibri"/>
              </a:rPr>
              <a:t>Leads UX research, ideation sessions,
and prototype validation.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3294000"/>
            <a:ext cx="136800" cy="756000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2000" y="3330000"/>
            <a:ext cx="504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Product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636000"/>
            <a:ext cx="50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  <a:latin typeface="Calibri"/>
              </a:rPr>
              <a:t>Technical viability, spec approval,
build supervision with Claude Code.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80000" y="900000"/>
            <a:ext cx="5220000" cy="4572000"/>
          </a:xfrm>
          <a:prstGeom prst="rect">
            <a:avLst/>
          </a:prstGeom>
          <a:solidFill>
            <a:srgbClr val="0A141F"/>
          </a:solidFill>
          <a:ln>
            <a:solidFill>
              <a:srgbClr val="0A14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60000" y="972000"/>
            <a:ext cx="48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88E5"/>
                </a:solidFill>
                <a:latin typeface="Calibri"/>
              </a:rPr>
              <a:t>OPERATING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32000" y="1332000"/>
            <a:ext cx="162000" cy="162000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20000" y="1303200"/>
            <a:ext cx="450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Client codebase stays in client repos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2000" y="1962000"/>
            <a:ext cx="162000" cy="162000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20000" y="1933200"/>
            <a:ext cx="450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SDPB-Context repo shared with client team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32000" y="2592000"/>
            <a:ext cx="162000" cy="162000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20000" y="2563200"/>
            <a:ext cx="450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AI agents augment the triad -- not replace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32000" y="3221999"/>
            <a:ext cx="162000" cy="162000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020000" y="3193200"/>
            <a:ext cx="450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Every artifact committed to git, full history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32000" y="3851999"/>
            <a:ext cx="162000" cy="162000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020000" y="3823200"/>
            <a:ext cx="450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AI-provider agnostic (Claude, GPT, Gemini)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32000" y="4482000"/>
            <a:ext cx="162000" cy="162000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20000" y="4453200"/>
            <a:ext cx="450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5-day cycle is repeatable per product increment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5490000"/>
            <a:ext cx="12193200" cy="666000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8000" y="5598000"/>
            <a:ext cx="9000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Ready to run a 5-day cycle with a real client engagement?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40000" y="5813999"/>
            <a:ext cx="25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3F2FD"/>
                </a:solidFill>
                <a:latin typeface="Calibri"/>
              </a:rPr>
              <a:t>Guillermo Becerra  |  E2E-SDPB</a:t>
            </a:r>
          </a:p>
        </p:txBody>
      </p:sp>
    </p:spTree>
    <p:extLst>
      <p:ext uri="{BB962C8B-B14F-4D97-AF65-F5344CB8AC3E}">
        <p14:creationId xmlns:p14="http://schemas.microsoft.com/office/powerpoint/2010/main" val="439973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57600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80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SDPB-Context Repo: Product Memory in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720000"/>
            <a:ext cx="432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1B2A"/>
                </a:solidFill>
                <a:latin typeface="Calibri"/>
              </a:rPr>
              <a:t>REPO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990000"/>
            <a:ext cx="61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ourier New"/>
              </a:rPr>
              <a:t>cxpd-demo/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368000"/>
            <a:ext cx="61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88E5"/>
                </a:solidFill>
                <a:latin typeface="Courier New"/>
              </a:rPr>
              <a:t>  +-- CLAUDE.md                &lt;- agent instructions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5999"/>
            <a:ext cx="61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88E5"/>
                </a:solidFill>
                <a:latin typeface="Courier New"/>
              </a:rPr>
              <a:t>  +-- framework.md             &lt;- E2E-SDPB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124000"/>
            <a:ext cx="61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Courier New"/>
              </a:rPr>
              <a:t>  +-- contexto/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502000"/>
            <a:ext cx="61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ourier New"/>
              </a:rPr>
              <a:t>  |   +-- corporativo/         &lt;- kickoff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2880000"/>
            <a:ext cx="61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ourier New"/>
              </a:rPr>
              <a:t>  |   +-- estrategia/ost.md    &lt;- single source of truth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3258000"/>
            <a:ext cx="61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ourier New"/>
              </a:rPr>
              <a:t>  |   +-- evidencia/           &lt;- EV-001 to EV-005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" y="3636000"/>
            <a:ext cx="61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Courier New"/>
              </a:rPr>
              <a:t>  +-- shape/                   &lt;- Day 1 artifacts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" y="4014000"/>
            <a:ext cx="61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Courier New"/>
              </a:rPr>
              <a:t>  +-- ideate-validate/         &lt;- Days 2-3 artifacts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000" y="4392000"/>
            <a:ext cx="61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Courier New"/>
              </a:rPr>
              <a:t>  +-- handoff-delivery/        &lt;- Day 4 specs +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4770000"/>
            <a:ext cx="61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ourier New"/>
              </a:rPr>
              <a:t>  +-- bitacora/                &lt;- full cycle log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12000" y="720000"/>
            <a:ext cx="5040000" cy="1080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912000" y="720000"/>
            <a:ext cx="97200" cy="1080000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28000" y="827999"/>
            <a:ext cx="4752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No re-explaining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8000" y="1152000"/>
            <a:ext cx="4752000" cy="5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Every session starts with full context. The agent reads the repo before acting.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12000" y="1872000"/>
            <a:ext cx="5040000" cy="1080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912000" y="1872000"/>
            <a:ext cx="97200" cy="1080000"/>
          </a:xfrm>
          <a:prstGeom prst="rect">
            <a:avLst/>
          </a:prstGeom>
          <a:solidFill>
            <a:srgbClr val="00838E"/>
          </a:solidFill>
          <a:ln>
            <a:solidFill>
              <a:srgbClr val="0083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28000" y="1980000"/>
            <a:ext cx="4752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38E"/>
                </a:solidFill>
                <a:latin typeface="Calibri"/>
              </a:rPr>
              <a:t>No lost decisions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28000" y="2304000"/>
            <a:ext cx="4752000" cy="5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Every choice -- from opportunity to spec -- is documented and traceable.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12000" y="3024000"/>
            <a:ext cx="5040000" cy="1080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912000" y="3024000"/>
            <a:ext cx="97200" cy="1080000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28000" y="3132000"/>
            <a:ext cx="4752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Full 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28000" y="3456000"/>
            <a:ext cx="4752000" cy="5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Spec -&gt; solution -&gt; assumption test -&gt; evidence -&gt; OST. End to end.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2000" y="4176000"/>
            <a:ext cx="5040000" cy="1080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912000" y="4176000"/>
            <a:ext cx="97200" cy="1080000"/>
          </a:xfrm>
          <a:prstGeom prst="rect">
            <a:avLst/>
          </a:prstGeom>
          <a:solidFill>
            <a:srgbClr val="4A148C"/>
          </a:solidFill>
          <a:ln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28000" y="4284000"/>
            <a:ext cx="4752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48C"/>
                </a:solidFill>
                <a:latin typeface="Calibri"/>
              </a:rPr>
              <a:t>Async-native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28000" y="4608000"/>
            <a:ext cx="4752000" cy="5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PM, Designer, Engineer, and agents work async. The repo is the sync point.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5274000"/>
            <a:ext cx="12193200" cy="270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8000" y="5320800"/>
            <a:ext cx="10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57575"/>
                </a:solidFill>
                <a:latin typeface="Calibri"/>
              </a:rPr>
              <a:t>"The repo is not a document archive. It's the operating system of the product."</a:t>
            </a:r>
          </a:p>
        </p:txBody>
      </p:sp>
    </p:spTree>
    <p:extLst>
      <p:ext uri="{BB962C8B-B14F-4D97-AF65-F5344CB8AC3E}">
        <p14:creationId xmlns:p14="http://schemas.microsoft.com/office/powerpoint/2010/main" val="884783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57600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80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Day 1 — Shape   +   Day 2 — Ideate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684000"/>
            <a:ext cx="144000" cy="511200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4000" y="756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2A"/>
                </a:solidFill>
                <a:latin typeface="Calibri"/>
              </a:rPr>
              <a:t>SHAPE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000" y="1044000"/>
            <a:ext cx="522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50" b="0">
                <a:solidFill>
                  <a:srgbClr val="212121"/>
                </a:solidFill>
                <a:latin typeface="Calibri"/>
              </a:rPr>
              <a:t>Kickoff with NexHealth: mission, users, constraints, API availability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212121"/>
                </a:solidFill>
                <a:latin typeface="Calibri"/>
              </a:rPr>
              <a:t>Claude (PM agent) populates corporate context live during the session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212121"/>
                </a:solidFill>
                <a:latin typeface="Calibri"/>
              </a:rPr>
              <a:t>Opportunity mapping workshop: 5 opportunities identified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212121"/>
                </a:solidFill>
                <a:latin typeface="Calibri"/>
              </a:rPr>
              <a:t>Claude builds the full OST during the workshop in real time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212121"/>
                </a:solidFill>
                <a:latin typeface="Calibri"/>
              </a:rPr>
              <a:t>Sizing &amp; prioritization: leaf node selected with explicit criteria</a:t>
            </a:r>
          </a:p>
        </p:txBody>
      </p:sp>
      <p:sp>
        <p:nvSpPr>
          <p:cNvPr id="7" name="Rectangle 6"/>
          <p:cNvSpPr/>
          <p:nvPr/>
        </p:nvSpPr>
        <p:spPr>
          <a:xfrm>
            <a:off x="774000" y="3276000"/>
            <a:ext cx="5256000" cy="1007999"/>
          </a:xfrm>
          <a:prstGeom prst="rect">
            <a:avLst/>
          </a:prstGeom>
          <a:solidFill>
            <a:srgbClr val="E3F2FD"/>
          </a:solidFill>
          <a:ln>
            <a:solidFill>
              <a:srgbClr val="E3F2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4000" y="3276000"/>
            <a:ext cx="97200" cy="1007999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4000" y="3348000"/>
            <a:ext cx="50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88E5"/>
                </a:solidFill>
                <a:latin typeface="Calibri"/>
              </a:rPr>
              <a:t>Leaf node elected: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4000" y="3600000"/>
            <a:ext cx="496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D1B2A"/>
                </a:solidFill>
                <a:latin typeface="Calibri"/>
              </a:rPr>
              <a:t>"The member doesn't know if their procedure is covered when they need it"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4000" y="4392000"/>
            <a:ext cx="50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757575"/>
                </a:solidFill>
                <a:latin typeface="Calibri"/>
              </a:rPr>
              <a:t>KEY ARTIFACTS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4000" y="4626000"/>
            <a:ext cx="52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 b="0">
                <a:solidFill>
                  <a:srgbClr val="757575"/>
                </a:solidFill>
                <a:latin typeface="Courier New"/>
              </a:rPr>
              <a:t>contexto/estrategia/ost.md  (v1)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757575"/>
                </a:solidFill>
                <a:latin typeface="Courier New"/>
              </a:rPr>
              <a:t>shape/analisis-oportunidades.md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757575"/>
                </a:solidFill>
                <a:latin typeface="Courier New"/>
              </a:rPr>
              <a:t>shape/oportunidades-sizing-priorizacion.md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684000"/>
            <a:ext cx="144000" cy="5112000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3999" y="756000"/>
            <a:ext cx="18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IDEATE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3999" y="1044000"/>
            <a:ext cx="522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50" b="0">
                <a:solidFill>
                  <a:srgbClr val="212121"/>
                </a:solidFill>
                <a:latin typeface="Calibri"/>
              </a:rPr>
              <a:t>Ideation: HMW, analogies, assumption inversion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212121"/>
                </a:solidFill>
                <a:latin typeface="Calibri"/>
              </a:rPr>
              <a:t>5 solution ideas evaluated on impact / effort / technical risk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212121"/>
                </a:solidFill>
                <a:latin typeface="Calibri"/>
              </a:rPr>
              <a:t>Conversational AI assistant selected for deep-dive validation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212121"/>
                </a:solidFill>
                <a:latin typeface="Calibri"/>
              </a:rPr>
              <a:t>Critical assumptions mapped by risk level</a:t>
            </a:r>
          </a:p>
          <a:p>
            <a:pPr algn="l">
              <a:spcBef>
                <a:spcPts val="400"/>
              </a:spcBef>
            </a:pPr>
            <a:r>
              <a:rPr sz="1150" b="0">
                <a:solidFill>
                  <a:srgbClr val="212121"/>
                </a:solidFill>
                <a:latin typeface="Calibri"/>
              </a:rPr>
              <a:t>Test plan: 5 user interviews + Wizard of Oz session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3999" y="3276000"/>
            <a:ext cx="5256000" cy="1007999"/>
          </a:xfrm>
          <a:prstGeom prst="rect">
            <a:avLst/>
          </a:prstGeom>
          <a:solidFill>
            <a:srgbClr val="E8F5E9"/>
          </a:solidFill>
          <a:ln>
            <a:solidFill>
              <a:srgbClr val="E8F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33999" y="3276000"/>
            <a:ext cx="97200" cy="1007999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13999" y="3348000"/>
            <a:ext cx="50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E7D32"/>
                </a:solidFill>
                <a:latin typeface="Calibri"/>
              </a:rPr>
              <a:t>Critical assumptions to test: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3999" y="3600000"/>
            <a:ext cx="4968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Calibri"/>
              </a:rPr>
              <a:t>Members trust AI for coverage decisions  [HIGH risk]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Calibri"/>
              </a:rPr>
              <a:t>Natural language &gt; forms  [HIGH risk]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12121"/>
                </a:solidFill>
                <a:latin typeface="Calibri"/>
              </a:rPr>
              <a:t>Coverage API has enough granularity  [MEDIUM risk]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3999" y="4392000"/>
            <a:ext cx="50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757575"/>
                </a:solidFill>
                <a:latin typeface="Calibri"/>
              </a:rPr>
              <a:t>KEY ARTIFACTS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3999" y="4626000"/>
            <a:ext cx="52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 b="0">
                <a:solidFill>
                  <a:srgbClr val="757575"/>
                </a:solidFill>
                <a:latin typeface="Courier New"/>
              </a:rPr>
              <a:t>ideate-validate/ideas.md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757575"/>
                </a:solidFill>
                <a:latin typeface="Courier New"/>
              </a:rPr>
              <a:t>ideate-validate/solution-assumptions.md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757575"/>
                </a:solidFill>
                <a:latin typeface="Courier New"/>
              </a:rPr>
              <a:t>ideate-validate/test-plan.md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868000"/>
            <a:ext cx="12193200" cy="270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0000" y="5911200"/>
            <a:ext cx="10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Agents:  PM agent  |  OST Facilitator skill  |  Designer agent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57600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80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Day 3 — Validate: Evidence-Based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702000"/>
            <a:ext cx="11124000" cy="54000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" y="792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Method: 5 user interviews (members, 25-40 yo, digital plans) + Wizard of Oz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1386000"/>
            <a:ext cx="11124000" cy="270000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0000" y="1422000"/>
            <a:ext cx="48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Assumption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0000" y="1422000"/>
            <a:ext cx="19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0000" y="1422000"/>
            <a:ext cx="32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Finding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0" y="1655999"/>
            <a:ext cx="11124000" cy="756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0000" y="1655999"/>
            <a:ext cx="72000" cy="756000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0000" y="1691999"/>
            <a:ext cx="486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Members trust AI for coverage decisions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0000" y="1871999"/>
            <a:ext cx="23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Calibri"/>
              </a:rPr>
              <a:t>CONFIRMED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000" y="1691999"/>
            <a:ext cx="3311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"If it says yes, I go." Conditional trust is acceptable.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2411999"/>
            <a:ext cx="11124000" cy="756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0000" y="2411999"/>
            <a:ext cx="72000" cy="756000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0000" y="2447999"/>
            <a:ext cx="486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Prefer natural language over forms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0000" y="2627999"/>
            <a:ext cx="23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Calibri"/>
              </a:rPr>
              <a:t>CONFIRMED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0000" y="2447999"/>
            <a:ext cx="3311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Forms cause drop-off at field 3. Natural input feels like texting.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3168000"/>
            <a:ext cx="11124000" cy="756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0000" y="3168000"/>
            <a:ext cx="72000" cy="756000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0000" y="3204000"/>
            <a:ext cx="486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Use it from mobile at moment of care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0000" y="3384000"/>
            <a:ext cx="23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Calibri"/>
              </a:rPr>
              <a:t>CONFIRMED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000" y="3204000"/>
            <a:ext cx="3311999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4/5 participants: "before going to the clinic" as the key trigger.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0000" y="3924000"/>
            <a:ext cx="11124000" cy="756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0000" y="3924000"/>
            <a:ext cx="72000" cy="756000"/>
          </a:xfrm>
          <a:prstGeom prst="rect">
            <a:avLst/>
          </a:prstGeom>
          <a:solidFill>
            <a:srgbClr val="E65C00"/>
          </a:solidFill>
          <a:ln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20000" y="3960000"/>
            <a:ext cx="4860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Coverage API has enough granularity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0000" y="4140000"/>
            <a:ext cx="23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5C00"/>
                </a:solidFill>
                <a:latin typeface="Calibri"/>
              </a:rPr>
              <a:t>PARTIAL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0000" y="3960000"/>
            <a:ext cx="33119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212121"/>
                </a:solidFill>
                <a:latin typeface="Calibri"/>
              </a:rPr>
              <a:t>API returns by </a:t>
            </a:r>
            <a:r>
              <a:rPr lang="es-419" sz="1000" b="0" i="0" dirty="0">
                <a:solidFill>
                  <a:srgbClr val="212121"/>
                </a:solidFill>
                <a:latin typeface="Calibri"/>
              </a:rPr>
              <a:t>specific provider </a:t>
            </a:r>
            <a:r>
              <a:rPr lang="es-419" sz="1000" dirty="0">
                <a:solidFill>
                  <a:srgbClr val="212121"/>
                </a:solidFill>
                <a:latin typeface="Calibri"/>
              </a:rPr>
              <a:t>(FONASA) </a:t>
            </a:r>
            <a:r>
              <a:rPr sz="1000" b="0" i="0" dirty="0">
                <a:solidFill>
                  <a:srgbClr val="212121"/>
                </a:solidFill>
                <a:latin typeface="Calibri"/>
              </a:rPr>
              <a:t> code, not name. Requires translation layer (+1d).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4698000"/>
            <a:ext cx="12193200" cy="79200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47700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88E5"/>
                </a:solidFill>
                <a:latin typeface="Calibri"/>
              </a:rPr>
              <a:t>CHOSEN SOLUTION: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8000" y="5004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Coverwise MVP -- Conversational AI + Procedure Name Resolver (FONASA translation layer)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5490000"/>
            <a:ext cx="12193200" cy="251999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0000" y="5526000"/>
            <a:ext cx="10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Evidence: EV-001 to EV-005  |  Agents: PM agent  |  Designer agent  |  Interview Snapshot skill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576000"/>
          </a:xfrm>
          <a:prstGeom prst="rect">
            <a:avLst/>
          </a:prstGeom>
          <a:solidFill>
            <a:srgbClr val="0D1B2A"/>
          </a:solidFill>
          <a:ln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90000"/>
            <a:ext cx="1080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Day 4 — Handoff to Delivery: Specs That Build Themselves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684000"/>
            <a:ext cx="1112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57575"/>
                </a:solidFill>
                <a:latin typeface="Calibri"/>
              </a:rPr>
              <a:t>Claude (SDD agent) decomposes the solution into specs traceable to the OST. Engineer approves. PM validates intent.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080000"/>
            <a:ext cx="11124000" cy="251999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0000" y="1116000"/>
            <a:ext cx="1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00000" y="1116000"/>
            <a:ext cx="54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0000" y="11160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0000" y="1116000"/>
            <a:ext cx="48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Acceptance Criteria (summary)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0" y="1332000"/>
            <a:ext cx="11124000" cy="684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0000" y="1512000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Courier New"/>
              </a:rPr>
              <a:t>FEAT-001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8000" y="1530000"/>
            <a:ext cx="432000" cy="251999"/>
          </a:xfrm>
          <a:prstGeom prst="rect">
            <a:avLst/>
          </a:prstGeom>
          <a:solidFill>
            <a:srgbClr val="B71C1C"/>
          </a:solidFill>
          <a:ln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36000" y="1548000"/>
            <a:ext cx="39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0000" y="1440000"/>
            <a:ext cx="306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Coverage query interface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0000" y="1386000"/>
            <a:ext cx="4860000" cy="5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Free-text input, autocomplete, mobile-first (touch &gt;= 44px). Max 5 suggestions.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2015999"/>
            <a:ext cx="11124000" cy="684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0000" y="2196000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Courier New"/>
              </a:rPr>
              <a:t>FEAT-002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18000" y="2214000"/>
            <a:ext cx="432000" cy="251999"/>
          </a:xfrm>
          <a:prstGeom prst="rect">
            <a:avLst/>
          </a:prstGeom>
          <a:solidFill>
            <a:srgbClr val="B71C1C"/>
          </a:solidFill>
          <a:ln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36000" y="2231999"/>
            <a:ext cx="39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0000" y="2124000"/>
            <a:ext cx="306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Coverage result display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0000" y="2070000"/>
            <a:ext cx="4860000" cy="5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"Covered / Not Covered / Partial" + copay limits and conditions in plain language.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0" y="2700000"/>
            <a:ext cx="11124000" cy="684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0000" y="2880000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Courier New"/>
              </a:rPr>
              <a:t>FEAT-003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18000" y="2898000"/>
            <a:ext cx="432000" cy="251999"/>
          </a:xfrm>
          <a:prstGeom prst="rect">
            <a:avLst/>
          </a:prstGeom>
          <a:solidFill>
            <a:srgbClr val="B71C1C"/>
          </a:solidFill>
          <a:ln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36000" y="2916000"/>
            <a:ext cx="39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0000" y="2808000"/>
            <a:ext cx="306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Procedure name resolver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0000" y="2754000"/>
            <a:ext cx="4860000" cy="5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NL -&gt; FONASA code translation. Handles typos, variants, accents. Mock data for demo.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0000" y="3383999"/>
            <a:ext cx="11124000" cy="684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20000" y="3563999"/>
            <a:ext cx="18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Courier New"/>
              </a:rPr>
              <a:t>FEAT-004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18000" y="3581999"/>
            <a:ext cx="432000" cy="251999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736000" y="3599999"/>
            <a:ext cx="39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0000" y="3491999"/>
            <a:ext cx="306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Fallback to human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0000" y="3437999"/>
            <a:ext cx="4860000" cy="5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When resolver confidence &lt; threshold: escalate to live agent with full query context.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0000" y="4086000"/>
            <a:ext cx="11124000" cy="1565999"/>
          </a:xfrm>
          <a:prstGeom prst="rect">
            <a:avLst/>
          </a:prstGeom>
          <a:solidFill>
            <a:srgbClr val="1A273A"/>
          </a:solidFill>
          <a:ln>
            <a:solidFill>
              <a:srgbClr val="1A27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0000" y="4147200"/>
            <a:ext cx="792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88E5"/>
                </a:solidFill>
                <a:latin typeface="Calibri"/>
              </a:rPr>
              <a:t>FEAT-001 -- sample spec excerpt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0000" y="4392000"/>
            <a:ext cx="10800000" cy="11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80CBC4"/>
                </a:solidFill>
                <a:latin typeface="Courier New"/>
              </a:rPr>
              <a:t>user story:   As a NexHealth member, I want to type my procedure in plain language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0CBC4"/>
                </a:solidFill>
                <a:latin typeface="Courier New"/>
              </a:rPr>
              <a:t>              to get an immediate, clear coverage answer.</a:t>
            </a:r>
          </a:p>
          <a:p>
            <a:pPr algn="l">
              <a:spcBef>
                <a:spcPts val="200"/>
              </a:spcBef>
            </a:pPr>
            <a:endParaRPr sz="1000" b="0">
              <a:solidFill>
                <a:srgbClr val="80CBC4"/>
              </a:solidFill>
              <a:latin typeface="Courier New"/>
            </a:endParaRP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0CBC4"/>
                </a:solidFill>
                <a:latin typeface="Courier New"/>
              </a:rPr>
              <a:t>acceptance:   Text input activates after 3 chars  |  max 5 suggestions shown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0CBC4"/>
                </a:solidFill>
                <a:latin typeface="Courier New"/>
              </a:rPr>
              <a:t>              If no match: "Procedure not found. Speak to an agent?"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0CBC4"/>
                </a:solidFill>
                <a:latin typeface="Courier New"/>
              </a:rPr>
              <a:t>              Touch target &gt;= 44px  |  Handles: typos, abbreviations, accents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5652000"/>
            <a:ext cx="12193200" cy="234000"/>
          </a:xfrm>
          <a:prstGeom prst="rect">
            <a:avLst/>
          </a:prstGeom>
          <a:solidFill>
            <a:srgbClr val="F4F6F8"/>
          </a:solidFill>
          <a:ln>
            <a:solidFill>
              <a:srgbClr val="F4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0000" y="5680800"/>
            <a:ext cx="10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Calibri"/>
              </a:rPr>
              <a:t>Every spec traces to the OST  |  Agents: SDD agent  |  Engineer agent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0000" y="144000"/>
            <a:ext cx="90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DAY 5  |  BUILD &amp;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413999"/>
            <a:ext cx="10800000" cy="5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Engineer Doesn't Write a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134000"/>
            <a:ext cx="21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88E5"/>
                </a:solidFill>
                <a:latin typeface="Calibri"/>
              </a:rPr>
              <a:t>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386000"/>
            <a:ext cx="1260000" cy="396000"/>
          </a:xfrm>
          <a:prstGeom prst="rect">
            <a:avLst/>
          </a:prstGeom>
          <a:solidFill>
            <a:srgbClr val="1A273A"/>
          </a:solidFill>
          <a:ln>
            <a:solidFill>
              <a:srgbClr val="1A27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0000" y="145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88E5"/>
                </a:solidFill>
                <a:latin typeface="Calibri"/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8000" y="1475999"/>
            <a:ext cx="45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React + Tailwind CSS  (mobile-first)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1854000"/>
            <a:ext cx="1260000" cy="396000"/>
          </a:xfrm>
          <a:prstGeom prst="rect">
            <a:avLst/>
          </a:prstGeom>
          <a:solidFill>
            <a:srgbClr val="1A273A"/>
          </a:solidFill>
          <a:ln>
            <a:solidFill>
              <a:srgbClr val="1A27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000" y="1926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88E5"/>
                </a:solidFill>
                <a:latin typeface="Calibri"/>
              </a:rP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8000" y="1944000"/>
            <a:ext cx="45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Python / FastAPI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2322000"/>
            <a:ext cx="1260000" cy="396000"/>
          </a:xfrm>
          <a:prstGeom prst="rect">
            <a:avLst/>
          </a:prstGeom>
          <a:solidFill>
            <a:srgbClr val="1A273A"/>
          </a:solidFill>
          <a:ln>
            <a:solidFill>
              <a:srgbClr val="1A27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000" y="2394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88E5"/>
                </a:solidFill>
                <a:latin typeface="Calibri"/>
              </a:rPr>
              <a:t>AI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8000" y="2412000"/>
            <a:ext cx="45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Claude API  (claude-sonnet-4-6)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0000" y="2790000"/>
            <a:ext cx="1260000" cy="396000"/>
          </a:xfrm>
          <a:prstGeom prst="rect">
            <a:avLst/>
          </a:prstGeom>
          <a:solidFill>
            <a:srgbClr val="1A273A"/>
          </a:solidFill>
          <a:ln>
            <a:solidFill>
              <a:srgbClr val="1A27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000" y="2862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88E5"/>
                </a:solidFill>
                <a:latin typeface="Calibri"/>
              </a:rPr>
              <a:t>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8000" y="2880000"/>
            <a:ext cx="45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Mock FONASA dataset  (JSON, demo)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3258000"/>
            <a:ext cx="1260000" cy="396000"/>
          </a:xfrm>
          <a:prstGeom prst="rect">
            <a:avLst/>
          </a:prstGeom>
          <a:solidFill>
            <a:srgbClr val="1A273A"/>
          </a:solidFill>
          <a:ln>
            <a:solidFill>
              <a:srgbClr val="1A27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000" y="3330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88E5"/>
                </a:solidFill>
                <a:latin typeface="Calibri"/>
              </a:rPr>
              <a:t>Infra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8000" y="3348000"/>
            <a:ext cx="45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Google Cloud Run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3726000"/>
            <a:ext cx="1260000" cy="396000"/>
          </a:xfrm>
          <a:prstGeom prst="rect">
            <a:avLst/>
          </a:prstGeom>
          <a:solidFill>
            <a:srgbClr val="1A273A"/>
          </a:solidFill>
          <a:ln>
            <a:solidFill>
              <a:srgbClr val="1A27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000" y="3797999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88E5"/>
                </a:solidFill>
                <a:latin typeface="Calibri"/>
              </a:rPr>
              <a:t>Domain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08000" y="3816000"/>
            <a:ext cx="45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coverwise.becerra-ojeda.cl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40000" y="900000"/>
            <a:ext cx="5040000" cy="4031999"/>
          </a:xfrm>
          <a:prstGeom prst="rect">
            <a:avLst/>
          </a:prstGeom>
          <a:solidFill>
            <a:srgbClr val="0A141F"/>
          </a:solidFill>
          <a:ln>
            <a:solidFill>
              <a:srgbClr val="0A14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020000" y="972000"/>
            <a:ext cx="46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E88E5"/>
                </a:solidFill>
                <a:latin typeface="Calibri"/>
              </a:rPr>
              <a:t>HOW IT HAPPENS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28000" y="1260000"/>
            <a:ext cx="460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  <a:latin typeface="Calibri"/>
              </a:rPr>
              <a:t>1.  Claude Code reads approved specs from the repo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28000" y="1818000"/>
            <a:ext cx="460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  <a:latin typeface="Calibri"/>
              </a:rPr>
              <a:t>2.  Builds: FEAT-003 -&gt; FEAT-001 -&gt; FEAT-002 -&gt; FEAT-004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28000" y="2376000"/>
            <a:ext cx="460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  <a:latin typeface="Calibri"/>
              </a:rPr>
              <a:t>3.  Engineer reviews each output -- no code from scratch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8000" y="2934000"/>
            <a:ext cx="460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  <a:latin typeface="Calibri"/>
              </a:rPr>
              <a:t>4.  gcloud run deploy  (Cloud Run, us-central1)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28000" y="3491999"/>
            <a:ext cx="460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  <a:latin typeface="Calibri"/>
              </a:rPr>
              <a:t>5.  DNS pointed: coverwise.becerra-ojeda.cl is live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8000" y="4050000"/>
            <a:ext cx="4608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BEC5"/>
                </a:solidFill>
                <a:latin typeface="Calibri"/>
              </a:rPr>
              <a:t>6.  Demo to NexHealth: repo walkthrough + live URL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5148000"/>
            <a:ext cx="12193200" cy="900000"/>
          </a:xfrm>
          <a:prstGeom prst="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8000" y="5238000"/>
            <a:ext cx="648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LIVE IN PRODUCTION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8000" y="5472000"/>
            <a:ext cx="11520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ourier New"/>
              </a:rPr>
              <a:t>coverwise.becerra-ojeda.cl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1274</Words>
  <Application>Microsoft Macintosh PowerPoint</Application>
  <PresentationFormat>Personalizado</PresentationFormat>
  <Paragraphs>216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Guillermo Becerra Ojeda</cp:lastModifiedBy>
  <cp:revision>2</cp:revision>
  <dcterms:created xsi:type="dcterms:W3CDTF">2013-01-27T09:14:16Z</dcterms:created>
  <dcterms:modified xsi:type="dcterms:W3CDTF">2026-05-06T14:25:12Z</dcterms:modified>
  <cp:category/>
</cp:coreProperties>
</file>