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  <p:sldId id="263" r:id="rId11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95" d="100"/>
          <a:sy n="95" d="100"/>
        </p:scale>
        <p:origin x="200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684000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8E5"/>
                </a:solidFill>
                <a:latin typeface="Calibri"/>
              </a:rPr>
              <a:t>NexHealth  x  Coverwise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16000"/>
            <a:ext cx="10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 dirty="0">
                <a:solidFill>
                  <a:srgbClr val="FFFFFF"/>
                </a:solidFill>
                <a:latin typeface="Calibri"/>
              </a:rPr>
              <a:t>E2E-SDPB in Action</a:t>
            </a:r>
            <a:r>
              <a:rPr lang="es-419" sz="5000" b="1" i="0" dirty="0">
                <a:solidFill>
                  <a:srgbClr val="FFFFFF"/>
                </a:solidFill>
                <a:latin typeface="Calibri"/>
              </a:rPr>
              <a:t>: Demo</a:t>
            </a:r>
            <a:endParaRPr sz="5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000" y="2520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CAF9"/>
                </a:solidFill>
                <a:latin typeface="Calibri"/>
              </a:rPr>
              <a:t>From brief to live product in 5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276000"/>
            <a:ext cx="2880000" cy="288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342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Calibri"/>
              </a:rPr>
              <a:t>Spec-Driven Product Building  |  End-to-End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780000"/>
            <a:ext cx="792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419" sz="1100" b="0" i="0" dirty="0">
                <a:solidFill>
                  <a:srgbClr val="00838E"/>
                </a:solidFill>
                <a:latin typeface="Courier New"/>
              </a:rPr>
              <a:t>TO BE: </a:t>
            </a:r>
            <a:r>
              <a:rPr sz="1100" b="0" i="0" dirty="0" err="1">
                <a:solidFill>
                  <a:srgbClr val="00838E"/>
                </a:solidFill>
                <a:latin typeface="Courier New"/>
              </a:rPr>
              <a:t>coverwise.becerra-ojeda.cl</a:t>
            </a:r>
            <a:endParaRPr sz="1100" b="0" i="0" dirty="0">
              <a:solidFill>
                <a:srgbClr val="00838E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20000" y="640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792000"/>
            <a:ext cx="3420000" cy="252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000" y="792000"/>
            <a:ext cx="3420000" cy="251999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000" y="827999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E0E0"/>
                </a:solidFill>
                <a:latin typeface="Calibri"/>
              </a:rPr>
              <a:t>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00" y="1134000"/>
            <a:ext cx="324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NexHealth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Digital health insurer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LATAM operations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500K active members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Fast-growing young adult segment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0" y="792000"/>
            <a:ext cx="4320000" cy="252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92000" y="792000"/>
            <a:ext cx="4320000" cy="251999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8000" y="827999"/>
            <a:ext cx="41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E0E0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000" y="1134000"/>
            <a:ext cx="414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Members can't tell if their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procedure is covered when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they need it.</a:t>
            </a:r>
          </a:p>
          <a:p>
            <a:pPr algn="l">
              <a:spcBef>
                <a:spcPts val="300"/>
              </a:spcBef>
            </a:pPr>
            <a:endParaRPr sz="1250" b="0">
              <a:solidFill>
                <a:srgbClr val="212121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-&gt;  Call center overloaded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-&gt;  NPS is low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-&gt;  Members skip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792000"/>
            <a:ext cx="2520000" cy="252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0" y="792000"/>
            <a:ext cx="2520000" cy="251999"/>
          </a:xfrm>
          <a:prstGeom prst="rect">
            <a:avLst/>
          </a:prstGeom>
          <a:solidFill>
            <a:srgbClr val="00838E"/>
          </a:solidFill>
          <a:ln>
            <a:solidFill>
              <a:srgbClr val="008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70000" y="827999"/>
            <a:ext cx="23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E0E0"/>
                </a:solidFill>
                <a:latin typeface="Calibri"/>
              </a:rPr>
              <a:t>THE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0000" y="1134000"/>
            <a:ext cx="2340000" cy="20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25-40 years old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Digital plan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Mobile-first</a:t>
            </a:r>
          </a:p>
          <a:p>
            <a:pPr algn="l">
              <a:spcBef>
                <a:spcPts val="300"/>
              </a:spcBef>
            </a:pPr>
            <a:endParaRPr sz="1250" b="0">
              <a:solidFill>
                <a:srgbClr val="212121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"Is this covered?"</a:t>
            </a:r>
          </a:p>
          <a:p>
            <a:pPr algn="l">
              <a:spcBef>
                <a:spcPts val="300"/>
              </a:spcBef>
            </a:pPr>
            <a:r>
              <a:rPr sz="1250" b="0">
                <a:solidFill>
                  <a:srgbClr val="212121"/>
                </a:solidFill>
                <a:latin typeface="Calibri"/>
              </a:rPr>
              <a:t>before going to the clinic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564000"/>
            <a:ext cx="12193200" cy="900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" y="3636000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870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Coverwise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0" y="3780000"/>
            <a:ext cx="702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BEC5"/>
                </a:solidFill>
                <a:latin typeface="Calibri"/>
              </a:rPr>
              <a:t>Conversational AI that answers coverage questions in natural language, in real time, from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Proposal: 5 Days, One Live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000" y="720000"/>
            <a:ext cx="2015999" cy="37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8000" y="720000"/>
            <a:ext cx="2015999" cy="503999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8000" y="756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1368000"/>
            <a:ext cx="1835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  <a:latin typeface="Calibri"/>
              </a:rPr>
              <a:t>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" y="2268000"/>
            <a:ext cx="1835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OST with
prioritized
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2800" y="1980000"/>
            <a:ext cx="16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E0E0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4000" y="720000"/>
            <a:ext cx="2015999" cy="37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64000" y="720000"/>
            <a:ext cx="2015999" cy="503999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4000" y="756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4000" y="1368000"/>
            <a:ext cx="1835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8E5"/>
                </a:solidFill>
                <a:latin typeface="Calibri"/>
              </a:rPr>
              <a:t>Ideate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4000" y="2268000"/>
            <a:ext cx="1835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Ideas +
Assumption
Test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800" y="1980000"/>
            <a:ext cx="16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E0E0"/>
                </a:solidFill>
                <a:latin typeface="Calibri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0000" y="720000"/>
            <a:ext cx="2015999" cy="37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60000" y="720000"/>
            <a:ext cx="2015999" cy="503999"/>
          </a:xfrm>
          <a:prstGeom prst="rect">
            <a:avLst/>
          </a:prstGeom>
          <a:solidFill>
            <a:srgbClr val="00838E"/>
          </a:solidFill>
          <a:ln>
            <a:solidFill>
              <a:srgbClr val="008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50000" y="756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0000" y="1368000"/>
            <a:ext cx="1835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38E"/>
                </a:solidFill>
                <a:latin typeface="Calibri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0000" y="2268000"/>
            <a:ext cx="1835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Evidence +
Chosen
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4800" y="1980000"/>
            <a:ext cx="16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E0E0"/>
                </a:solidFill>
                <a:latin typeface="Calibr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5999" y="720000"/>
            <a:ext cx="2015999" cy="37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55999" y="720000"/>
            <a:ext cx="2015999" cy="503999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45999" y="756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5999" y="1368000"/>
            <a:ext cx="1835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148C"/>
                </a:solidFill>
                <a:latin typeface="Calibri"/>
              </a:rPr>
              <a:t>Handoff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5999" y="2268000"/>
            <a:ext cx="1835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Specs +
Release
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0799" y="1980000"/>
            <a:ext cx="16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E0E0"/>
                </a:solidFill>
                <a:latin typeface="Calibri"/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52000" y="720000"/>
            <a:ext cx="2015999" cy="37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52000" y="720000"/>
            <a:ext cx="2015999" cy="50399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42000" y="756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2000" y="1368000"/>
            <a:ext cx="1835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Calibri"/>
              </a:rPr>
              <a:t>Build
&amp;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2000" y="2268000"/>
            <a:ext cx="1835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Coverwise
live in
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968000"/>
            <a:ext cx="12193200" cy="720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8000" y="5112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coverwise.becerra-ojeda.cl  goes live on Day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180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HOW E2E-SDPB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440000"/>
            <a:ext cx="2664000" cy="251999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475999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1692000"/>
            <a:ext cx="2664000" cy="1800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6000" y="1782000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Calibri"/>
              </a:rPr>
              <a:t>Discover &amp; prioritize
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2565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1E88E5"/>
                </a:solidFill>
                <a:latin typeface="Calibri"/>
              </a:rPr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2799000"/>
            <a:ext cx="24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OST with
prioritized leaf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800" y="2340000"/>
            <a:ext cx="1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BEC5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2000" y="1440000"/>
            <a:ext cx="2664000" cy="251999"/>
          </a:xfrm>
          <a:prstGeom prst="rect">
            <a:avLst/>
          </a:prstGeom>
          <a:solidFill>
            <a:srgbClr val="00838E"/>
          </a:solidFill>
          <a:ln>
            <a:solidFill>
              <a:srgbClr val="008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4000" y="1475999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Ideate &amp;</a:t>
            </a:r>
            <a:r>
              <a:rPr lang="es-419"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2000" y="1692000"/>
            <a:ext cx="2664000" cy="1800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0000" y="1782000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Calibri"/>
              </a:rPr>
              <a:t>Generate ideas,
test critical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0000" y="2565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38E"/>
                </a:solidFill>
                <a:latin typeface="Calibr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0000" y="2799000"/>
            <a:ext cx="24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Solution chosen
with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6800" y="2340000"/>
            <a:ext cx="1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BEC5"/>
                </a:solidFill>
                <a:latin typeface="Calibri"/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6000" y="1440000"/>
            <a:ext cx="2664000" cy="251999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68000" y="1475999"/>
            <a:ext cx="25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Handoff to</a:t>
            </a:r>
            <a:r>
              <a:rPr lang="es-419"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96000" y="1692000"/>
            <a:ext cx="2664000" cy="1800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04000" y="1782000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Calibri"/>
              </a:rPr>
              <a:t>Produce specs
traceable to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4000" y="2565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148C"/>
                </a:solidFill>
                <a:latin typeface="Calibr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4000" y="2799000"/>
            <a:ext cx="24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Approved specs
+ release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0800" y="2340000"/>
            <a:ext cx="1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BEC5"/>
                </a:solidFill>
                <a:latin typeface="Calibri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0000" y="1440000"/>
            <a:ext cx="2664000" cy="25199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22000" y="1475999"/>
            <a:ext cx="25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0000" y="1692000"/>
            <a:ext cx="2664000" cy="1800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58000" y="1782000"/>
            <a:ext cx="24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  <a:latin typeface="Calibri"/>
              </a:rPr>
              <a:t>Claude Code builds
from specs.
Engineer reviews.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8000" y="2565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Calibri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8000" y="2799000"/>
            <a:ext cx="24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Live product
in production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500000"/>
            <a:ext cx="12193200" cy="720000"/>
          </a:xfrm>
          <a:prstGeom prst="rect">
            <a:avLst/>
          </a:prstGeom>
          <a:solidFill>
            <a:srgbClr val="0A141F"/>
          </a:solidFill>
          <a:ln>
            <a:solidFill>
              <a:srgbClr val="0A1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0000" y="4626000"/>
            <a:ext cx="1075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0CBC4"/>
                </a:solidFill>
                <a:latin typeface="Calibri"/>
              </a:rPr>
              <a:t>"Nothing gets built without a spec.  No spec without evidence.  Everything validated."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1800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08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We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THE TRIAD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22000"/>
            <a:ext cx="136800" cy="756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2000" y="1458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Product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76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Facilitates discovery. Owns the OST and product brief.
Coordinates with client stakeholders.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358000"/>
            <a:ext cx="136800" cy="756000"/>
          </a:xfrm>
          <a:prstGeom prst="rect">
            <a:avLst/>
          </a:prstGeom>
          <a:solidFill>
            <a:srgbClr val="00838E"/>
          </a:solidFill>
          <a:ln>
            <a:solidFill>
              <a:srgbClr val="008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000" y="2394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E"/>
                </a:solidFill>
                <a:latin typeface="Calibri"/>
              </a:rPr>
              <a:t>Product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70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Leads UX research, ideation sessions,
and prototype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294000"/>
            <a:ext cx="136800" cy="756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000" y="3330000"/>
            <a:ext cx="50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Product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63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Technical viability, spec approval,
build supervision with Claude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0" y="900000"/>
            <a:ext cx="5220000" cy="4572000"/>
          </a:xfrm>
          <a:prstGeom prst="rect">
            <a:avLst/>
          </a:prstGeom>
          <a:solidFill>
            <a:srgbClr val="0A141F"/>
          </a:solidFill>
          <a:ln>
            <a:solidFill>
              <a:srgbClr val="0A1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0000" y="972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OPERATING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2000" y="1332000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0000" y="130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Client codebase stays in client repos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2000" y="1962000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20000" y="193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SDPB-Context repo shared with client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32000" y="2592000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0000" y="256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agents augment the triad -- not replace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2000" y="3221999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0000" y="319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Every artifact committed to git, full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2000" y="3851999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20000" y="382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AI-provider agnostic (Claude, GPT, Gemini)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2000" y="4482000"/>
            <a:ext cx="162000" cy="16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0000" y="4453200"/>
            <a:ext cx="45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5-day cycle is repeatable per product increment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490000"/>
            <a:ext cx="12193200" cy="666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8000" y="5598000"/>
            <a:ext cx="90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Ready to run a 5-day cycle with a real client engagement?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0000" y="58139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3F2FD"/>
                </a:solidFill>
                <a:latin typeface="Calibri"/>
              </a:rPr>
              <a:t>Guillermo Becerra  |  E2E-SDPB</a:t>
            </a:r>
          </a:p>
        </p:txBody>
      </p:sp>
    </p:spTree>
    <p:extLst>
      <p:ext uri="{BB962C8B-B14F-4D97-AF65-F5344CB8AC3E}">
        <p14:creationId xmlns:p14="http://schemas.microsoft.com/office/powerpoint/2010/main" val="439973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SDPB-Context Repo: Product Memory in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43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Calibri"/>
              </a:rPr>
              <a:t>REPO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9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urier New"/>
              </a:rPr>
              <a:t>cxpd-demo/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8E5"/>
                </a:solidFill>
                <a:latin typeface="Courier New"/>
              </a:rPr>
              <a:t>  +-- CLAUDE.md                &lt;- agent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745999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8E5"/>
                </a:solidFill>
                <a:latin typeface="Courier New"/>
              </a:rPr>
              <a:t>  +-- framework.md             &lt;- E2E-SDPB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24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ourier New"/>
              </a:rPr>
              <a:t>  +-- contexto/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02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ourier New"/>
              </a:rPr>
              <a:t>  |   +-- corporativo/         &lt;- kickoff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88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ourier New"/>
              </a:rPr>
              <a:t>  |   +-- estrategia/ost.md    &lt;- single 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258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ourier New"/>
              </a:rPr>
              <a:t>  |   +-- evidencia/           &lt;- EV-001 to EV-005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36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ourier New"/>
              </a:rPr>
              <a:t>  +-- shape/                   &lt;- Day 1 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014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ourier New"/>
              </a:rPr>
              <a:t>  +-- ideate-validate/         &lt;- Days 2-3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4392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Courier New"/>
              </a:rPr>
              <a:t>  +-- handoff-delivery/        &lt;- Day 4 specs +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770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ourier New"/>
              </a:rPr>
              <a:t>  +-- bitacora/                &lt;- full cycle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12000" y="720000"/>
            <a:ext cx="5040000" cy="10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12000" y="720000"/>
            <a:ext cx="97200" cy="1080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28000" y="827999"/>
            <a:ext cx="47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No re-explaining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8000" y="1152000"/>
            <a:ext cx="4752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Every session starts with full context. The agent reads the repo before acting.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2000" y="1872000"/>
            <a:ext cx="5040000" cy="10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12000" y="1872000"/>
            <a:ext cx="97200" cy="1080000"/>
          </a:xfrm>
          <a:prstGeom prst="rect">
            <a:avLst/>
          </a:prstGeom>
          <a:solidFill>
            <a:srgbClr val="00838E"/>
          </a:solidFill>
          <a:ln>
            <a:solidFill>
              <a:srgbClr val="0083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28000" y="1980000"/>
            <a:ext cx="47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38E"/>
                </a:solidFill>
                <a:latin typeface="Calibri"/>
              </a:rPr>
              <a:t>No lost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0" y="2304000"/>
            <a:ext cx="4752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Every choice -- from opportunity to spec -- is documented and traceable.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2000" y="3024000"/>
            <a:ext cx="5040000" cy="10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12000" y="3024000"/>
            <a:ext cx="97200" cy="1080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28000" y="3132000"/>
            <a:ext cx="47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Full traceability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8000" y="3456000"/>
            <a:ext cx="4752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Spec -&gt; solution -&gt; assumption test -&gt; evidence -&gt; OST. End to end.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2000" y="4176000"/>
            <a:ext cx="5040000" cy="108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12000" y="4176000"/>
            <a:ext cx="97200" cy="108000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28000" y="4284000"/>
            <a:ext cx="475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148C"/>
                </a:solidFill>
                <a:latin typeface="Calibri"/>
              </a:rPr>
              <a:t>Async-native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8000" y="4608000"/>
            <a:ext cx="4752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PM, Designer, Engineer, and agents work async. The repo is the sync point.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274000"/>
            <a:ext cx="12193200" cy="27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000" y="53208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"The repo is not a document archive. It's the operating system of the product."</a:t>
            </a:r>
          </a:p>
        </p:txBody>
      </p:sp>
    </p:spTree>
    <p:extLst>
      <p:ext uri="{BB962C8B-B14F-4D97-AF65-F5344CB8AC3E}">
        <p14:creationId xmlns:p14="http://schemas.microsoft.com/office/powerpoint/2010/main" val="884783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Day 1 — Shape   +   Day 2 — Ideate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684000"/>
            <a:ext cx="144000" cy="5112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4000" y="75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alibri"/>
              </a:rPr>
              <a:t>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000" y="1044000"/>
            <a:ext cx="52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Kickoff with NexHealth: mission, users, constraints, API availability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Claude (PM agent) populates corporate context live during the session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Opportunity mapping workshop: 5 opportunities identified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Claude builds the full OST during the workshop in real time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Sizing &amp; prioritization: leaf node selected with explicit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000" y="3276000"/>
            <a:ext cx="5256000" cy="1007999"/>
          </a:xfrm>
          <a:prstGeom prst="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4000" y="3276000"/>
            <a:ext cx="97200" cy="1007999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4000" y="3348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Leaf node elected: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4000" y="3600000"/>
            <a:ext cx="496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  <a:latin typeface="Calibri"/>
              </a:rPr>
              <a:t>"The member doesn't know if their procedure is covered when they need it"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439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57575"/>
                </a:solidFill>
                <a:latin typeface="Calibri"/>
              </a:rPr>
              <a:t>KEY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" y="4626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contexto/estrategia/ost.md  (v1)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shape/analisis-oportunidades.md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shape/oportunidades-sizing-priorizacion.md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684000"/>
            <a:ext cx="144000" cy="5112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3999" y="75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IDEATE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3999" y="1044000"/>
            <a:ext cx="52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Ideation: HMW, analogies, assumption inversion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5 solution ideas evaluated on impact / effort / technical risk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Conversational AI assistant selected for deep-dive validation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Critical assumptions mapped by risk level</a:t>
            </a:r>
          </a:p>
          <a:p>
            <a:pPr algn="l">
              <a:spcBef>
                <a:spcPts val="400"/>
              </a:spcBef>
            </a:pPr>
            <a:r>
              <a:rPr sz="1150" b="0">
                <a:solidFill>
                  <a:srgbClr val="212121"/>
                </a:solidFill>
                <a:latin typeface="Calibri"/>
              </a:rPr>
              <a:t>Test plan: 5 user interviews + Wizard of Oz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3999" y="3276000"/>
            <a:ext cx="5256000" cy="1007999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3999" y="3276000"/>
            <a:ext cx="97200" cy="1007999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13999" y="3348000"/>
            <a:ext cx="50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  <a:latin typeface="Calibri"/>
              </a:rPr>
              <a:t>Critical assumptions to test: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3999" y="3600000"/>
            <a:ext cx="496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Calibri"/>
              </a:rPr>
              <a:t>Members trust AI for coverage decisions  [HIGH risk]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Calibri"/>
              </a:rPr>
              <a:t>Natural language &gt; forms  [HIGH risk]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Calibri"/>
              </a:rPr>
              <a:t>Coverage API has enough granularity  [MEDIUM risk]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3999" y="439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57575"/>
                </a:solidFill>
                <a:latin typeface="Calibri"/>
              </a:rPr>
              <a:t>KEY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3999" y="4626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ideate-validate/ideas.md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ideate-validate/solution-assumptions.md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57575"/>
                </a:solidFill>
                <a:latin typeface="Courier New"/>
              </a:rPr>
              <a:t>ideate-validate/test-plan.md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868000"/>
            <a:ext cx="12193200" cy="270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0000" y="59112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Agents:  PM agent  |  OST Facilitator skill  |  Designer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Day 3 — Validate: Evidence-Based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702000"/>
            <a:ext cx="11124000" cy="540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Method: 5 user interviews (members, 25-40 yo, digital plans) + Wizard of Oz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386000"/>
            <a:ext cx="11124000" cy="270000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422000"/>
            <a:ext cx="48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0000" y="1422000"/>
            <a:ext cx="19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142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655999"/>
            <a:ext cx="11124000" cy="756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0000" y="1655999"/>
            <a:ext cx="72000" cy="756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1691999"/>
            <a:ext cx="48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Members trust AI for coverage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0" y="1871999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1691999"/>
            <a:ext cx="331199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"If it says yes, I go." Conditional trust is acceptable.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411999"/>
            <a:ext cx="11124000" cy="75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0000" y="2411999"/>
            <a:ext cx="72000" cy="756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2447999"/>
            <a:ext cx="48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Prefer natural language over 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0000" y="2627999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2447999"/>
            <a:ext cx="331199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Forms cause drop-off at field 3. Natural input feels like texting.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168000"/>
            <a:ext cx="11124000" cy="756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0000" y="3168000"/>
            <a:ext cx="72000" cy="756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000" y="3204000"/>
            <a:ext cx="48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Use it from mobile at moment of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384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3204000"/>
            <a:ext cx="3311999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Calibri"/>
              </a:rPr>
              <a:t>4/5 participants: "before going to the clinic" as the key trigger.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924000"/>
            <a:ext cx="11124000" cy="75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0000" y="3924000"/>
            <a:ext cx="72000" cy="756000"/>
          </a:xfrm>
          <a:prstGeom prst="rect">
            <a:avLst/>
          </a:prstGeom>
          <a:solidFill>
            <a:srgbClr val="E65C00"/>
          </a:solidFill>
          <a:ln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000" y="3960000"/>
            <a:ext cx="48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Coverage API has enough granularity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0000" y="4140000"/>
            <a:ext cx="23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C00"/>
                </a:solidFill>
                <a:latin typeface="Calibri"/>
              </a:rP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3960000"/>
            <a:ext cx="331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12121"/>
                </a:solidFill>
                <a:latin typeface="Calibri"/>
              </a:rPr>
              <a:t>API returns by </a:t>
            </a:r>
            <a:r>
              <a:rPr lang="es-419" sz="1000" b="0" i="0" dirty="0">
                <a:solidFill>
                  <a:srgbClr val="212121"/>
                </a:solidFill>
                <a:latin typeface="Calibri"/>
              </a:rPr>
              <a:t>specific provider </a:t>
            </a:r>
            <a:r>
              <a:rPr lang="es-419" sz="1000" dirty="0">
                <a:solidFill>
                  <a:srgbClr val="212121"/>
                </a:solidFill>
                <a:latin typeface="Calibri"/>
              </a:rPr>
              <a:t>(FONASA) </a:t>
            </a:r>
            <a:r>
              <a:rPr sz="1000" b="0" i="0" dirty="0">
                <a:solidFill>
                  <a:srgbClr val="212121"/>
                </a:solidFill>
                <a:latin typeface="Calibri"/>
              </a:rPr>
              <a:t> code, not name. Requires translation layer (+1d).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698000"/>
            <a:ext cx="12193200" cy="792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47700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CHOSEN SOLUTION: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5004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Coverwise MVP -- Conversational AI + Procedure Name Resolver (FONASA translation layer)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490000"/>
            <a:ext cx="12193200" cy="251999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0000" y="5526000"/>
            <a:ext cx="10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Evidence: EV-001 to EV-005  |  Agents: PM agent  |  Designer agent  |  Interview Snapshot skill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Day 4 — Handoff to Delivery: Specs That Build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684000"/>
            <a:ext cx="111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57575"/>
                </a:solidFill>
                <a:latin typeface="Calibri"/>
              </a:rPr>
              <a:t>Claude (SDD agent) decomposes the solution into specs traceable to the OST. Engineer approves. PM validates intent.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80000"/>
            <a:ext cx="11124000" cy="251999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116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0" y="1116000"/>
            <a:ext cx="5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0" y="1116000"/>
            <a:ext cx="28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1116000"/>
            <a:ext cx="48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Acceptance Criteria (summary)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332000"/>
            <a:ext cx="11124000" cy="684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151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Courier New"/>
              </a:rPr>
              <a:t>FEAT-001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8000" y="1530000"/>
            <a:ext cx="432000" cy="251999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36000" y="1548000"/>
            <a:ext cx="3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0000" y="1440000"/>
            <a:ext cx="30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Coverage query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0" y="1386000"/>
            <a:ext cx="486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Free-text input, autocomplete, mobile-first (touch &gt;= 44px). Max 5 suggestions.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015999"/>
            <a:ext cx="1112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219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Courier New"/>
              </a:rPr>
              <a:t>FEAT-002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8000" y="2214000"/>
            <a:ext cx="432000" cy="251999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36000" y="2231999"/>
            <a:ext cx="3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0" y="2124000"/>
            <a:ext cx="30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Coverage result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0000" y="2070000"/>
            <a:ext cx="486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"Covered / Not Covered / Partial" + copay limits and conditions in plain language.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2700000"/>
            <a:ext cx="11124000" cy="684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0000" y="288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Courier New"/>
              </a:rPr>
              <a:t>FEAT-003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8000" y="2898000"/>
            <a:ext cx="432000" cy="251999"/>
          </a:xfrm>
          <a:prstGeom prst="rect">
            <a:avLst/>
          </a:prstGeom>
          <a:solidFill>
            <a:srgbClr val="B71C1C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36000" y="2916000"/>
            <a:ext cx="3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0" y="2808000"/>
            <a:ext cx="30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Procedure name resolver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0000" y="2754000"/>
            <a:ext cx="486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NL -&gt; FONASA code translation. Handles typos, variants, accents. Mock data for demo.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3383999"/>
            <a:ext cx="1112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0000" y="3563999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57575"/>
                </a:solidFill>
                <a:latin typeface="Courier New"/>
              </a:rPr>
              <a:t>FEAT-004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8000" y="3581999"/>
            <a:ext cx="432000" cy="251999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36000" y="3599999"/>
            <a:ext cx="3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0000" y="3491999"/>
            <a:ext cx="30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Calibri"/>
              </a:rPr>
              <a:t>Fallback to human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0000" y="3437999"/>
            <a:ext cx="48600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When resolver confidence &lt; threshold: escalate to live agent with full query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" y="4086000"/>
            <a:ext cx="11124000" cy="1565999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0000" y="4147200"/>
            <a:ext cx="79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FEAT-001 -- sample spec excerpt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4392000"/>
            <a:ext cx="10800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 b="0">
                <a:solidFill>
                  <a:srgbClr val="80CBC4"/>
                </a:solidFill>
                <a:latin typeface="Courier New"/>
              </a:rPr>
              <a:t>user story:   As a NexHealth member, I want to type my procedure in plain language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0CBC4"/>
                </a:solidFill>
                <a:latin typeface="Courier New"/>
              </a:rPr>
              <a:t>              to get an immediate, clear coverage answer.</a:t>
            </a:r>
          </a:p>
          <a:p>
            <a:pPr algn="l">
              <a:spcBef>
                <a:spcPts val="200"/>
              </a:spcBef>
            </a:pPr>
            <a:endParaRPr sz="1000" b="0">
              <a:solidFill>
                <a:srgbClr val="80CBC4"/>
              </a:solidFill>
              <a:latin typeface="Courier New"/>
            </a:endParaRP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0CBC4"/>
                </a:solidFill>
                <a:latin typeface="Courier New"/>
              </a:rPr>
              <a:t>acceptance:   Text input activates after 3 chars  |  max 5 suggestions shown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0CBC4"/>
                </a:solidFill>
                <a:latin typeface="Courier New"/>
              </a:rPr>
              <a:t>              If no match: "Procedure not found. Speak to an agent?"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0CBC4"/>
                </a:solidFill>
                <a:latin typeface="Courier New"/>
              </a:rPr>
              <a:t>              Touch target &gt;= 44px  |  Handles: typos, abbreviations, accents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652000"/>
            <a:ext cx="12193200" cy="234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0000" y="5680800"/>
            <a:ext cx="10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Calibri"/>
              </a:rPr>
              <a:t>Every spec traces to the OST  |  Agents: SDD agent  |  Engineer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144000"/>
            <a:ext cx="9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DAY 5  |  BUILD &amp;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13999"/>
            <a:ext cx="1080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Engineer Doesn't Write a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34000"/>
            <a:ext cx="2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86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1458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8000" y="1475999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 + Tailwind CSS  (mobile-first)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54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00" y="1926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8000" y="1944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Python /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22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" y="2394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8000" y="2412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Claude API  (claude-sonnet-4-6)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790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00" y="2862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8000" y="2880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Mock FONASA dataset  (JSON, demo)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258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" y="3330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8000" y="3348000"/>
            <a:ext cx="45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419" sz="1100" b="0" i="0" dirty="0">
                <a:solidFill>
                  <a:srgbClr val="FFFFFF"/>
                </a:solidFill>
                <a:latin typeface="Calibri"/>
              </a:rPr>
              <a:t>Cloudflare Page+Workers  /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Google Cloud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726000"/>
            <a:ext cx="1260000" cy="396000"/>
          </a:xfrm>
          <a:prstGeom prst="rect">
            <a:avLst/>
          </a:prstGeom>
          <a:solidFill>
            <a:srgbClr val="1A273A"/>
          </a:solidFill>
          <a:ln>
            <a:solidFill>
              <a:srgbClr val="1A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00" y="3797999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8E5"/>
                </a:solidFill>
                <a:latin typeface="Calibri"/>
              </a:rPr>
              <a:t>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8000" y="3816000"/>
            <a:ext cx="45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coverwise.becerra-ojeda.cl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0" y="900000"/>
            <a:ext cx="5040000" cy="4031999"/>
          </a:xfrm>
          <a:prstGeom prst="rect">
            <a:avLst/>
          </a:prstGeom>
          <a:solidFill>
            <a:srgbClr val="0A141F"/>
          </a:solidFill>
          <a:ln>
            <a:solidFill>
              <a:srgbClr val="0A1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20000" y="972000"/>
            <a:ext cx="46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88E5"/>
                </a:solidFill>
                <a:latin typeface="Calibri"/>
              </a:rPr>
              <a:t>HOW IT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8000" y="1260000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1.  Claude Code reads approved specs from the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8000" y="1818000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2.  Builds: FEAT-003 -&gt; FEAT-001 -&gt; FEAT-002 -&gt; FEAT-004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8000" y="2376000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3.  Engineer reviews each output -- no code from scratch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8000" y="2934000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4.  gcloud run deploy  (Cloud Run, us-central1)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3491999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5.  DNS pointed: coverwise.becerra-ojeda.cl is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8000" y="4050000"/>
            <a:ext cx="460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6.  Demo to NexHealth: repo walkthrough + live URL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148000"/>
            <a:ext cx="12193200" cy="9000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000" y="5238000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LIVE IN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" y="5472000"/>
            <a:ext cx="115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urier New"/>
              </a:rPr>
              <a:t>coverwise.becerra-ojeda.cl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1279</Words>
  <Application>Microsoft Macintosh PowerPoint</Application>
  <PresentationFormat>Personalizado</PresentationFormat>
  <Paragraphs>216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Guillermo Becerra Ojeda</cp:lastModifiedBy>
  <cp:revision>3</cp:revision>
  <dcterms:created xsi:type="dcterms:W3CDTF">2013-01-27T09:14:16Z</dcterms:created>
  <dcterms:modified xsi:type="dcterms:W3CDTF">2026-05-06T15:50:39Z</dcterms:modified>
  <cp:category/>
</cp:coreProperties>
</file>